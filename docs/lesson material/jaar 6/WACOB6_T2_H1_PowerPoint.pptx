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449" r:id="rId5"/>
    <p:sldId id="257" r:id="rId6"/>
    <p:sldId id="262" r:id="rId7"/>
    <p:sldId id="263" r:id="rId8"/>
    <p:sldId id="264" r:id="rId9"/>
    <p:sldId id="405" r:id="rId10"/>
    <p:sldId id="406" r:id="rId11"/>
    <p:sldId id="407" r:id="rId12"/>
    <p:sldId id="408" r:id="rId13"/>
    <p:sldId id="409" r:id="rId14"/>
    <p:sldId id="446" r:id="rId15"/>
    <p:sldId id="411" r:id="rId16"/>
    <p:sldId id="447" r:id="rId17"/>
    <p:sldId id="413" r:id="rId18"/>
    <p:sldId id="414" r:id="rId19"/>
    <p:sldId id="415" r:id="rId20"/>
    <p:sldId id="417" r:id="rId21"/>
    <p:sldId id="416" r:id="rId22"/>
    <p:sldId id="418" r:id="rId23"/>
    <p:sldId id="419" r:id="rId24"/>
    <p:sldId id="420" r:id="rId25"/>
    <p:sldId id="421" r:id="rId26"/>
    <p:sldId id="440" r:id="rId27"/>
    <p:sldId id="423" r:id="rId28"/>
    <p:sldId id="424" r:id="rId29"/>
    <p:sldId id="439" r:id="rId30"/>
    <p:sldId id="426" r:id="rId31"/>
    <p:sldId id="427" r:id="rId32"/>
    <p:sldId id="428" r:id="rId33"/>
    <p:sldId id="433" r:id="rId34"/>
    <p:sldId id="434" r:id="rId35"/>
    <p:sldId id="435" r:id="rId36"/>
    <p:sldId id="436" r:id="rId37"/>
    <p:sldId id="437" r:id="rId38"/>
    <p:sldId id="438" r:id="rId39"/>
    <p:sldId id="441" r:id="rId40"/>
    <p:sldId id="298" r:id="rId41"/>
    <p:sldId id="442" r:id="rId42"/>
    <p:sldId id="443" r:id="rId43"/>
    <p:sldId id="444" r:id="rId44"/>
    <p:sldId id="445" r:id="rId4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6107C4C-4F4A-43A1-99C5-974697EA49D0}">
          <p14:sldIdLst>
            <p14:sldId id="449"/>
            <p14:sldId id="257"/>
            <p14:sldId id="262"/>
            <p14:sldId id="263"/>
            <p14:sldId id="264"/>
            <p14:sldId id="405"/>
            <p14:sldId id="406"/>
            <p14:sldId id="407"/>
            <p14:sldId id="408"/>
            <p14:sldId id="409"/>
            <p14:sldId id="446"/>
            <p14:sldId id="411"/>
            <p14:sldId id="447"/>
            <p14:sldId id="413"/>
            <p14:sldId id="414"/>
            <p14:sldId id="415"/>
            <p14:sldId id="417"/>
            <p14:sldId id="416"/>
            <p14:sldId id="418"/>
            <p14:sldId id="419"/>
            <p14:sldId id="420"/>
            <p14:sldId id="421"/>
            <p14:sldId id="440"/>
            <p14:sldId id="423"/>
            <p14:sldId id="424"/>
            <p14:sldId id="439"/>
            <p14:sldId id="426"/>
            <p14:sldId id="427"/>
            <p14:sldId id="428"/>
            <p14:sldId id="433"/>
            <p14:sldId id="434"/>
            <p14:sldId id="435"/>
            <p14:sldId id="436"/>
            <p14:sldId id="437"/>
            <p14:sldId id="438"/>
            <p14:sldId id="441"/>
            <p14:sldId id="298"/>
            <p14:sldId id="442"/>
            <p14:sldId id="443"/>
            <p14:sldId id="444"/>
            <p14:sldId id="4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B4ADAA-3AD0-07A1-263B-98F370DC4D4A}" name="Femke Van Daele" initials="FVD" userId="67d53fb1dcef706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C8DA"/>
    <a:srgbClr val="7EC9DB"/>
    <a:srgbClr val="79C8D9"/>
    <a:srgbClr val="FF5966"/>
    <a:srgbClr val="735F97"/>
    <a:srgbClr val="8577AD"/>
    <a:srgbClr val="9487B7"/>
    <a:srgbClr val="13B1B9"/>
    <a:srgbClr val="966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3FE69-A03D-482C-BB75-F07621729131}" v="85" dt="2024-06-19T13:22:59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le Damm" userId="8d8f6742-9e7e-4e00-9132-b652dd15f1a0" providerId="ADAL" clId="{63B3FE69-A03D-482C-BB75-F07621729131}"/>
    <pc:docChg chg="undo redo custSel addSld delSld modSld modSection">
      <pc:chgData name="Veerle Damm" userId="8d8f6742-9e7e-4e00-9132-b652dd15f1a0" providerId="ADAL" clId="{63B3FE69-A03D-482C-BB75-F07621729131}" dt="2024-06-19T13:23:01.518" v="185" actId="47"/>
      <pc:docMkLst>
        <pc:docMk/>
      </pc:docMkLst>
      <pc:sldChg chg="addSp delSp modSp del mod setBg">
        <pc:chgData name="Veerle Damm" userId="8d8f6742-9e7e-4e00-9132-b652dd15f1a0" providerId="ADAL" clId="{63B3FE69-A03D-482C-BB75-F07621729131}" dt="2024-06-19T13:22:13.125" v="179" actId="47"/>
        <pc:sldMkLst>
          <pc:docMk/>
          <pc:sldMk cId="2666098483" sldId="256"/>
        </pc:sldMkLst>
        <pc:picChg chg="add del mod ord">
          <ac:chgData name="Veerle Damm" userId="8d8f6742-9e7e-4e00-9132-b652dd15f1a0" providerId="ADAL" clId="{63B3FE69-A03D-482C-BB75-F07621729131}" dt="2024-06-19T13:20:55.279" v="157" actId="14100"/>
          <ac:picMkLst>
            <pc:docMk/>
            <pc:sldMk cId="2666098483" sldId="256"/>
            <ac:picMk id="3" creationId="{A75BAADA-99C7-4B9C-B187-803BBF85FC3F}"/>
          </ac:picMkLst>
        </pc:picChg>
      </pc:sldChg>
      <pc:sldChg chg="modSp mod">
        <pc:chgData name="Veerle Damm" userId="8d8f6742-9e7e-4e00-9132-b652dd15f1a0" providerId="ADAL" clId="{63B3FE69-A03D-482C-BB75-F07621729131}" dt="2024-06-14T05:53:13.987" v="3" actId="20577"/>
        <pc:sldMkLst>
          <pc:docMk/>
          <pc:sldMk cId="3954209474" sldId="257"/>
        </pc:sldMkLst>
        <pc:spChg chg="mod">
          <ac:chgData name="Veerle Damm" userId="8d8f6742-9e7e-4e00-9132-b652dd15f1a0" providerId="ADAL" clId="{63B3FE69-A03D-482C-BB75-F07621729131}" dt="2024-06-14T05:53:13.987" v="3" actId="20577"/>
          <ac:spMkLst>
            <pc:docMk/>
            <pc:sldMk cId="3954209474" sldId="257"/>
            <ac:spMk id="7" creationId="{0C1C1EEB-3C83-1CAB-4007-4AED5245C947}"/>
          </ac:spMkLst>
        </pc:spChg>
      </pc:sldChg>
      <pc:sldChg chg="del">
        <pc:chgData name="Veerle Damm" userId="8d8f6742-9e7e-4e00-9132-b652dd15f1a0" providerId="ADAL" clId="{63B3FE69-A03D-482C-BB75-F07621729131}" dt="2024-06-14T08:36:27.875" v="38" actId="47"/>
        <pc:sldMkLst>
          <pc:docMk/>
          <pc:sldMk cId="1831680567" sldId="410"/>
        </pc:sldMkLst>
      </pc:sldChg>
      <pc:sldChg chg="del">
        <pc:chgData name="Veerle Damm" userId="8d8f6742-9e7e-4e00-9132-b652dd15f1a0" providerId="ADAL" clId="{63B3FE69-A03D-482C-BB75-F07621729131}" dt="2024-06-14T08:36:53.302" v="70" actId="47"/>
        <pc:sldMkLst>
          <pc:docMk/>
          <pc:sldMk cId="2795154527" sldId="412"/>
        </pc:sldMkLst>
      </pc:sldChg>
      <pc:sldChg chg="addSp delSp modSp add mod modClrScheme chgLayout">
        <pc:chgData name="Veerle Damm" userId="8d8f6742-9e7e-4e00-9132-b652dd15f1a0" providerId="ADAL" clId="{63B3FE69-A03D-482C-BB75-F07621729131}" dt="2024-06-14T08:36:26.268" v="37" actId="20577"/>
        <pc:sldMkLst>
          <pc:docMk/>
          <pc:sldMk cId="4282990963" sldId="446"/>
        </pc:sldMkLst>
        <pc:spChg chg="mod ord">
          <ac:chgData name="Veerle Damm" userId="8d8f6742-9e7e-4e00-9132-b652dd15f1a0" providerId="ADAL" clId="{63B3FE69-A03D-482C-BB75-F07621729131}" dt="2024-06-14T08:36:06.586" v="6" actId="700"/>
          <ac:spMkLst>
            <pc:docMk/>
            <pc:sldMk cId="4282990963" sldId="446"/>
            <ac:spMk id="2" creationId="{1CA4C0AD-605C-6756-BAB1-82359907B581}"/>
          </ac:spMkLst>
        </pc:spChg>
        <pc:spChg chg="mod ord">
          <ac:chgData name="Veerle Damm" userId="8d8f6742-9e7e-4e00-9132-b652dd15f1a0" providerId="ADAL" clId="{63B3FE69-A03D-482C-BB75-F07621729131}" dt="2024-06-14T08:36:12.468" v="8" actId="6549"/>
          <ac:spMkLst>
            <pc:docMk/>
            <pc:sldMk cId="4282990963" sldId="446"/>
            <ac:spMk id="3" creationId="{C3F4FB4A-807B-2501-0A4E-9E0DD34497E4}"/>
          </ac:spMkLst>
        </pc:spChg>
        <pc:spChg chg="mod">
          <ac:chgData name="Veerle Damm" userId="8d8f6742-9e7e-4e00-9132-b652dd15f1a0" providerId="ADAL" clId="{63B3FE69-A03D-482C-BB75-F07621729131}" dt="2024-06-14T08:36:26.268" v="37" actId="20577"/>
          <ac:spMkLst>
            <pc:docMk/>
            <pc:sldMk cId="4282990963" sldId="446"/>
            <ac:spMk id="5" creationId="{783EC7C8-A538-7EE7-7DE4-1B2B96072DA9}"/>
          </ac:spMkLst>
        </pc:spChg>
        <pc:spChg chg="add del mod">
          <ac:chgData name="Veerle Damm" userId="8d8f6742-9e7e-4e00-9132-b652dd15f1a0" providerId="ADAL" clId="{63B3FE69-A03D-482C-BB75-F07621729131}" dt="2024-06-14T08:36:06.586" v="6" actId="700"/>
          <ac:spMkLst>
            <pc:docMk/>
            <pc:sldMk cId="4282990963" sldId="446"/>
            <ac:spMk id="6" creationId="{1034D53D-C728-556F-7942-B975E79E35A8}"/>
          </ac:spMkLst>
        </pc:spChg>
        <pc:picChg chg="add mod">
          <ac:chgData name="Veerle Damm" userId="8d8f6742-9e7e-4e00-9132-b652dd15f1a0" providerId="ADAL" clId="{63B3FE69-A03D-482C-BB75-F07621729131}" dt="2024-06-14T08:36:21.323" v="35" actId="1036"/>
          <ac:picMkLst>
            <pc:docMk/>
            <pc:sldMk cId="4282990963" sldId="446"/>
            <ac:picMk id="7" creationId="{991B7C31-CD96-2805-3123-AFA95F4AAE21}"/>
          </ac:picMkLst>
        </pc:picChg>
        <pc:picChg chg="del">
          <ac:chgData name="Veerle Damm" userId="8d8f6742-9e7e-4e00-9132-b652dd15f1a0" providerId="ADAL" clId="{63B3FE69-A03D-482C-BB75-F07621729131}" dt="2024-06-14T08:36:03.905" v="5" actId="478"/>
          <ac:picMkLst>
            <pc:docMk/>
            <pc:sldMk cId="4282990963" sldId="446"/>
            <ac:picMk id="9" creationId="{1BECA9F9-876F-1752-379B-AC7AA3E8B19D}"/>
          </ac:picMkLst>
        </pc:picChg>
      </pc:sldChg>
      <pc:sldChg chg="addSp delSp modSp add mod modClrScheme chgLayout">
        <pc:chgData name="Veerle Damm" userId="8d8f6742-9e7e-4e00-9132-b652dd15f1a0" providerId="ADAL" clId="{63B3FE69-A03D-482C-BB75-F07621729131}" dt="2024-06-14T08:36:51.691" v="69" actId="1036"/>
        <pc:sldMkLst>
          <pc:docMk/>
          <pc:sldMk cId="1157620481" sldId="447"/>
        </pc:sldMkLst>
        <pc:spChg chg="mod ord">
          <ac:chgData name="Veerle Damm" userId="8d8f6742-9e7e-4e00-9132-b652dd15f1a0" providerId="ADAL" clId="{63B3FE69-A03D-482C-BB75-F07621729131}" dt="2024-06-14T08:36:36.789" v="41" actId="700"/>
          <ac:spMkLst>
            <pc:docMk/>
            <pc:sldMk cId="1157620481" sldId="447"/>
            <ac:spMk id="2" creationId="{1CA4C0AD-605C-6756-BAB1-82359907B581}"/>
          </ac:spMkLst>
        </pc:spChg>
        <pc:spChg chg="mod ord">
          <ac:chgData name="Veerle Damm" userId="8d8f6742-9e7e-4e00-9132-b652dd15f1a0" providerId="ADAL" clId="{63B3FE69-A03D-482C-BB75-F07621729131}" dt="2024-06-14T08:36:42.276" v="42" actId="20577"/>
          <ac:spMkLst>
            <pc:docMk/>
            <pc:sldMk cId="1157620481" sldId="447"/>
            <ac:spMk id="3" creationId="{C3F4FB4A-807B-2501-0A4E-9E0DD34497E4}"/>
          </ac:spMkLst>
        </pc:spChg>
        <pc:spChg chg="add del mod">
          <ac:chgData name="Veerle Damm" userId="8d8f6742-9e7e-4e00-9132-b652dd15f1a0" providerId="ADAL" clId="{63B3FE69-A03D-482C-BB75-F07621729131}" dt="2024-06-14T08:36:36.789" v="41" actId="700"/>
          <ac:spMkLst>
            <pc:docMk/>
            <pc:sldMk cId="1157620481" sldId="447"/>
            <ac:spMk id="6" creationId="{008EB284-CF01-EF6B-11AE-21EF395B5DFE}"/>
          </ac:spMkLst>
        </pc:spChg>
        <pc:picChg chg="add mod">
          <ac:chgData name="Veerle Damm" userId="8d8f6742-9e7e-4e00-9132-b652dd15f1a0" providerId="ADAL" clId="{63B3FE69-A03D-482C-BB75-F07621729131}" dt="2024-06-14T08:36:51.691" v="69" actId="1036"/>
          <ac:picMkLst>
            <pc:docMk/>
            <pc:sldMk cId="1157620481" sldId="447"/>
            <ac:picMk id="7" creationId="{04910926-AF53-F494-FAD7-20A8092999A9}"/>
          </ac:picMkLst>
        </pc:picChg>
        <pc:picChg chg="del">
          <ac:chgData name="Veerle Damm" userId="8d8f6742-9e7e-4e00-9132-b652dd15f1a0" providerId="ADAL" clId="{63B3FE69-A03D-482C-BB75-F07621729131}" dt="2024-06-14T08:36:33.278" v="40" actId="478"/>
          <ac:picMkLst>
            <pc:docMk/>
            <pc:sldMk cId="1157620481" sldId="447"/>
            <ac:picMk id="8" creationId="{D3306D37-7DF3-85F6-F0BE-40860F6FB705}"/>
          </ac:picMkLst>
        </pc:picChg>
      </pc:sldChg>
      <pc:sldChg chg="addSp modSp add del mod">
        <pc:chgData name="Veerle Damm" userId="8d8f6742-9e7e-4e00-9132-b652dd15f1a0" providerId="ADAL" clId="{63B3FE69-A03D-482C-BB75-F07621729131}" dt="2024-06-19T13:23:01.518" v="185" actId="47"/>
        <pc:sldMkLst>
          <pc:docMk/>
          <pc:sldMk cId="1523334877" sldId="448"/>
        </pc:sldMkLst>
        <pc:spChg chg="mod">
          <ac:chgData name="Veerle Damm" userId="8d8f6742-9e7e-4e00-9132-b652dd15f1a0" providerId="ADAL" clId="{63B3FE69-A03D-482C-BB75-F07621729131}" dt="2024-06-19T13:22:04.016" v="177" actId="20577"/>
          <ac:spMkLst>
            <pc:docMk/>
            <pc:sldMk cId="1523334877" sldId="448"/>
            <ac:spMk id="7" creationId="{3875515A-C4AD-3CC9-1F76-C79EDD9DD5B1}"/>
          </ac:spMkLst>
        </pc:spChg>
        <pc:picChg chg="add mod">
          <ac:chgData name="Veerle Damm" userId="8d8f6742-9e7e-4e00-9132-b652dd15f1a0" providerId="ADAL" clId="{63B3FE69-A03D-482C-BB75-F07621729131}" dt="2024-06-19T13:22:38.004" v="181" actId="29295"/>
          <ac:picMkLst>
            <pc:docMk/>
            <pc:sldMk cId="1523334877" sldId="448"/>
            <ac:picMk id="2" creationId="{88EA36E4-7928-C8E9-E82B-CFD5DD1F7F5E}"/>
          </ac:picMkLst>
        </pc:picChg>
      </pc:sldChg>
      <pc:sldChg chg="add del setBg">
        <pc:chgData name="Veerle Damm" userId="8d8f6742-9e7e-4e00-9132-b652dd15f1a0" providerId="ADAL" clId="{63B3FE69-A03D-482C-BB75-F07621729131}" dt="2024-06-19T13:21:38.296" v="161"/>
        <pc:sldMkLst>
          <pc:docMk/>
          <pc:sldMk cId="3684256921" sldId="448"/>
        </pc:sldMkLst>
      </pc:sldChg>
      <pc:sldChg chg="add">
        <pc:chgData name="Veerle Damm" userId="8d8f6742-9e7e-4e00-9132-b652dd15f1a0" providerId="ADAL" clId="{63B3FE69-A03D-482C-BB75-F07621729131}" dt="2024-06-19T13:22:59.724" v="184"/>
        <pc:sldMkLst>
          <pc:docMk/>
          <pc:sldMk cId="214189431" sldId="449"/>
        </pc:sldMkLst>
      </pc:sldChg>
      <pc:sldChg chg="add del setBg">
        <pc:chgData name="Veerle Damm" userId="8d8f6742-9e7e-4e00-9132-b652dd15f1a0" providerId="ADAL" clId="{63B3FE69-A03D-482C-BB75-F07621729131}" dt="2024-06-19T13:22:57.956" v="183"/>
        <pc:sldMkLst>
          <pc:docMk/>
          <pc:sldMk cId="545098938" sldId="4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85B11-53F4-4546-A5C9-38FEB5A84DD7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22B32-CE10-4736-8FC0-B26819F234F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788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663A-444B-B253-439A-8FC8BC1C6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602C2-DF6A-3E47-F925-4A07C219F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24258-12FA-A9CD-B420-A97E2AD5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7F3A7-D078-31E6-A4A4-19FC5AEE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04B68-D4B0-5C2D-D52F-CBB3DBE8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364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E197-F0C0-45EF-BFB7-B0052CA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F192-9F0E-BE81-0A60-C3BC50E49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3A291-C034-029C-BFF1-5F72A55C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8D24F-C680-0C2F-B936-FE91FDEE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1BD8B-9356-3E13-352F-2C123781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92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BF34-BB9C-9BB1-ED27-E3974141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4FE2E-EFC2-E434-E5F3-B31407930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7ADC-39B9-531B-8B5F-F101ED79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3DBC-03AC-C39C-D9C3-743D8887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5BC0E-C48E-868D-67D0-2E7BAED0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34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2A0C-4D65-76BC-11FC-1939331F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15C96-F15C-CDC3-45E7-F8F98A20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9F944-8C11-BDF2-6E59-4448DE7AE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4F5C1-8E48-EA3B-DD83-CA5DFBDF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C8793-1F63-3D24-76B1-EF29073E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7F717-6DF7-466B-1B31-9D218DC5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625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C554-611A-1FEF-08DB-1B9CF452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EB5E7-BB56-8F5B-7B98-6D785909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D2915-90BB-9336-473E-29C7BC00C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0E802-CD90-7494-2140-62D10FA70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1F5A7-7F85-30F2-F504-C4A16F16E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773864-11C4-2610-2B7A-97A917C8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FD922A-6D32-BE82-D7BF-349A84A2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63317-34A4-7C09-6BFF-FEF8C92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29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421-3F06-19A1-0C69-D6F0622F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8526E-EF4B-8AD5-4AD9-1F922C1B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FF114-E4B7-B8D6-9462-6F535B96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AB200-1CA4-BEF1-E931-84CBCDA7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122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952AD-6D75-397F-E968-4239144A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C903E-B436-8801-1285-4FB3A056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DA5E9-BD84-25D9-E51C-E657B3E7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205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C89A-22D0-DD43-0493-A8F7E498D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7D646-EA9C-9771-0CC6-F6427F3AD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00A5F-74AC-3874-9106-818BA2259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AA102-D849-C344-F46F-C95FCED5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85158-B163-704F-8487-8E9CBAEE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C827A-362E-7F12-2B81-1F9D9BFC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822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69BA-5C85-2A85-0035-D6C3D4EC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41A67-447C-69EC-3DB7-C90683D31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9906D-A973-F368-8436-091211F89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91E19-9E41-3B36-19A0-5DC9B2AB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35040-57AC-12F9-E40A-89A8EBC64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FA9E-ABCC-FEB7-5F6B-E2CA508D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193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E484-201A-2EEF-5AA3-86785F9A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FD527-F278-166B-885B-F6B5F2306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FC23-AE0A-7385-E7DA-35BDADC0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FB928-6B35-D21A-61A2-CB3032AA0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761B0-2951-F119-698F-90464D33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180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1332D-0401-0F9A-4E84-C526743E2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66698-DAA1-3BA0-60F7-864BCE66B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3897E-DCE0-F047-C798-BACA0C4E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E3AB-FF61-2C2E-CACF-5BA34E66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1CB64-6288-1991-D44E-D0C83A90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648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351E3-D3EB-960C-F361-C1966E98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807D9-79EC-A3AE-26D3-4992E745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C1EA-E835-643E-C895-5D5E10791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57440-BD6F-4FEF-B639-07DD4F6D56E1}" type="datetimeFigureOut">
              <a:rPr lang="nl-BE" smtClean="0"/>
              <a:t>19/06/2024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A3DFF-525C-2008-4C7C-F4B78F296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55B92-A3C1-04E2-0E45-FDF773268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85D15-C43A-4930-9F9B-1EE9D1A89B7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049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9000">
              <a:srgbClr val="68C4D4"/>
            </a:gs>
            <a:gs pos="30000">
              <a:schemeClr val="bg1"/>
            </a:gs>
            <a:gs pos="50000">
              <a:schemeClr val="accent5">
                <a:lumMod val="40000"/>
                <a:lumOff val="60000"/>
              </a:schemeClr>
            </a:gs>
            <a:gs pos="100000">
              <a:srgbClr val="13B1B9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875515A-C4AD-3CC9-1F76-C79EDD9DD5B1}"/>
              </a:ext>
            </a:extLst>
          </p:cNvPr>
          <p:cNvSpPr txBox="1">
            <a:spLocks/>
          </p:cNvSpPr>
          <p:nvPr/>
        </p:nvSpPr>
        <p:spPr>
          <a:xfrm>
            <a:off x="1524000" y="1122362"/>
            <a:ext cx="9144000" cy="43640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kumimoji="0" lang="nl-NL" sz="7200" b="0" i="0" u="none" strike="noStrike" kern="1200" cap="none" spc="0" normalizeH="0" baseline="0" noProof="0" dirty="0">
                <a:ln>
                  <a:noFill/>
                </a:ln>
                <a:solidFill>
                  <a:srgbClr val="8577AD"/>
                </a:solidFill>
                <a:effectLst/>
                <a:uLnTx/>
                <a:uFillTx/>
                <a:latin typeface="Noto Sans Black" panose="020B0A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Chromosomale</a:t>
            </a:r>
            <a:r>
              <a:rPr kumimoji="0" lang="nl-NL" sz="7200" b="0" i="0" u="none" strike="noStrike" kern="1200" cap="none" spc="0" normalizeH="0" baseline="0" noProof="0" dirty="0">
                <a:ln>
                  <a:noFill/>
                </a:ln>
                <a:solidFill>
                  <a:srgbClr val="8577AD"/>
                </a:solidFill>
                <a:effectLst/>
                <a:uLnTx/>
                <a:uFillTx/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erfelijkheid</a:t>
            </a:r>
            <a:endParaRPr kumimoji="0" lang="nl-BE" sz="6000" b="0" i="0" u="none" strike="noStrike" kern="1200" cap="none" spc="0" normalizeH="0" baseline="0" noProof="0" dirty="0">
              <a:ln>
                <a:noFill/>
              </a:ln>
              <a:solidFill>
                <a:srgbClr val="8577AD"/>
              </a:solidFill>
              <a:effectLst/>
              <a:uLnTx/>
              <a:uFillTx/>
              <a:latin typeface="Noto Sans Black" panose="020B0A02040504020204" pitchFamily="34" charset="0"/>
              <a:ea typeface="Noto Sans Black" panose="020B0A02040504020204" pitchFamily="34" charset="0"/>
              <a:cs typeface="Noto Sans Black" panose="020B0A02040504020204" pitchFamily="34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8EA36E4-7928-C8E9-E82B-CFD5DD1F7F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52122" y="0"/>
            <a:ext cx="7639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6670-DAD7-78BE-9FCC-42D497C82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35F9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HOOFDSTUK 1</a:t>
            </a:r>
            <a:br>
              <a:rPr lang="en-US" dirty="0">
                <a:solidFill>
                  <a:srgbClr val="735F9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dirty="0">
                <a:solidFill>
                  <a:srgbClr val="735F9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MONO- EN DIHYBRIDE KRUISINGEN</a:t>
            </a:r>
            <a:endParaRPr lang="nl-BE" dirty="0">
              <a:solidFill>
                <a:srgbClr val="735F97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71AB0-5127-C2BC-9C0B-5C557B4D9420}"/>
              </a:ext>
            </a:extLst>
          </p:cNvPr>
          <p:cNvSpPr/>
          <p:nvPr/>
        </p:nvSpPr>
        <p:spPr>
          <a:xfrm>
            <a:off x="0" y="0"/>
            <a:ext cx="12192000" cy="1012371"/>
          </a:xfrm>
          <a:prstGeom prst="rect">
            <a:avLst/>
          </a:prstGeom>
          <a:solidFill>
            <a:srgbClr val="CDD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4156970-376F-392C-6C49-6C2D778C7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061" y="0"/>
            <a:ext cx="1914939" cy="1012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C1EEB-3C83-1CAB-4007-4AED5245C947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59</a:t>
            </a:r>
          </a:p>
        </p:txBody>
      </p:sp>
    </p:spTree>
    <p:extLst>
      <p:ext uri="{BB962C8B-B14F-4D97-AF65-F5344CB8AC3E}">
        <p14:creationId xmlns:p14="http://schemas.microsoft.com/office/powerpoint/2010/main" val="395420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C61DC7F-B3EB-4E43-79AD-A8964398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190" y="117000"/>
            <a:ext cx="8597621" cy="66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0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59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B333AF3-DEE5-A3B3-4832-016F8F16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27" y="2709000"/>
            <a:ext cx="8861547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411278" cy="4351338"/>
          </a:xfrm>
        </p:spPr>
        <p:txBody>
          <a:bodyPr/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 </a:t>
            </a: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erfelijkheidsleer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 </a:t>
            </a: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genetica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is de wetenschap die genen en de overerving van genen bestudeert</a:t>
            </a:r>
            <a:endParaRPr lang="nl-BE" sz="18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Johan Gregor Mendel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Tsjechische monnik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grondlegger van de erfelijkheidsleer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experimenteerde met erwtenplanten in de kloostertuin</a:t>
            </a:r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3882F1CA-5052-ECD1-1DC4-A90B8AC3B2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727792" y="446832"/>
            <a:ext cx="1867161" cy="269595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59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6528618-0B70-6761-E47B-6E7589EE2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46" y="3766168"/>
            <a:ext cx="250542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9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8FBA24B-A834-4267-2787-48F7309F9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39" y="657000"/>
            <a:ext cx="7541722" cy="5544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B226DE3-07DC-0C97-3EA6-A70CE99C9E0C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60</a:t>
            </a:r>
          </a:p>
        </p:txBody>
      </p:sp>
    </p:spTree>
    <p:extLst>
      <p:ext uri="{BB962C8B-B14F-4D97-AF65-F5344CB8AC3E}">
        <p14:creationId xmlns:p14="http://schemas.microsoft.com/office/powerpoint/2010/main" val="202077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‘raszuiver’ plantenmateriaal voor de onderzochte kenmerken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twee raszuivere planten met hetzelfde kenmerk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alle nakomelingen hebben hetzelfde kenmerk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een raszuivere </a:t>
            </a: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groenzadige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plant na zelfbestuiving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enkel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groenzadige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nakomelingen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een raszuivere </a:t>
            </a: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plant na zelfbestuiving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enkel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geelzadige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nakomelingen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60</a:t>
            </a:r>
          </a:p>
        </p:txBody>
      </p:sp>
    </p:spTree>
    <p:extLst>
      <p:ext uri="{BB962C8B-B14F-4D97-AF65-F5344CB8AC3E}">
        <p14:creationId xmlns:p14="http://schemas.microsoft.com/office/powerpoint/2010/main" val="188906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specifieke terminologie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61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05C158C-C6DE-D6C7-DAD9-FE348D696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64" y="3193639"/>
            <a:ext cx="7199997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6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/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</a:p>
          <a:p>
            <a:pPr marL="0" indent="0">
              <a:buNone/>
            </a:pPr>
            <a:r>
              <a:rPr lang="nl-BE" sz="1800" b="1" dirty="0" err="1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kruisingen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reeks kruisingen waarbij telkens slechts één kernmerk (bv. zaadkleur) werd onderzocht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Experiment 1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stamperplant: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 raszuiver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stuifmeelplant: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groenzadig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 raszuiver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allemaal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‘</a:t>
            </a:r>
            <a:r>
              <a:rPr lang="nl-BE" sz="1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hybriden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’ of ‘</a:t>
            </a:r>
            <a:r>
              <a:rPr lang="nl-BE" sz="1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bastaarden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’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10070D29-7F19-DD71-D86C-A5C287856D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74980" y="1909551"/>
            <a:ext cx="3019846" cy="303889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61</a:t>
            </a:r>
          </a:p>
        </p:txBody>
      </p:sp>
    </p:spTree>
    <p:extLst>
      <p:ext uri="{BB962C8B-B14F-4D97-AF65-F5344CB8AC3E}">
        <p14:creationId xmlns:p14="http://schemas.microsoft.com/office/powerpoint/2010/main" val="270080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Experiment 1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Reciproque kruising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stamperplant: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groenzadig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 raszuiver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stuifmeelplant: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 raszuiver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allemaal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is dominant of overheersend</a:t>
            </a:r>
          </a:p>
          <a:p>
            <a:pPr>
              <a:buFontTx/>
              <a:buChar char="-"/>
            </a:pP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groenzadig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is recessief of ondergeschikt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Dominantieregel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 hetzelfde kenmerk als één van de ouders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61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1BECA9F9-876F-1752-379B-AC7AA3E8B1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44750" y="1885735"/>
            <a:ext cx="3000794" cy="3086531"/>
          </a:xfrm>
        </p:spPr>
      </p:pic>
    </p:spTree>
    <p:extLst>
      <p:ext uri="{BB962C8B-B14F-4D97-AF65-F5344CB8AC3E}">
        <p14:creationId xmlns:p14="http://schemas.microsoft.com/office/powerpoint/2010/main" val="360258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62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91B7C31-CD96-2805-3123-AFA95F4AA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00" y="3624583"/>
            <a:ext cx="8280000" cy="15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9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Experiment 2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Zelfbestuiving van de 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allemaal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verhouding van 3/1</a:t>
            </a:r>
          </a:p>
          <a:p>
            <a:pPr>
              <a:buFontTx/>
              <a:buChar char="-"/>
            </a:pP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geelzadige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 is ook drager van het </a:t>
            </a: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groenzadige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kenmerk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62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D3306D37-7DF3-85F6-F0BE-40860F6FB7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899916" y="1253331"/>
            <a:ext cx="2648270" cy="4351338"/>
          </a:xfrm>
        </p:spPr>
      </p:pic>
    </p:spTree>
    <p:extLst>
      <p:ext uri="{BB962C8B-B14F-4D97-AF65-F5344CB8AC3E}">
        <p14:creationId xmlns:p14="http://schemas.microsoft.com/office/powerpoint/2010/main" val="3165887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1.1.1 De eerste twee wetten van Mendel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62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4910926-AF53-F494-FAD7-20A80929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00" y="3434076"/>
            <a:ext cx="8280000" cy="175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20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1.1.2 Taal van de genetica</a:t>
            </a:r>
            <a:endParaRPr lang="nl-BE" sz="1800" b="1" dirty="0">
              <a:solidFill>
                <a:srgbClr val="75D6DB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nakomeling krijgt materiaal mee van moeder en vader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‘erffactoren’ = genen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Een </a:t>
            </a: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is een stukje DNA dat de code bevat voor de aanmaak van een eiwit dat zich uit als een eigenschap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mens: 20 000 genen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62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FD46EDB-7E5A-FC1C-9397-25B01D0490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11165" y="1947656"/>
            <a:ext cx="3229426" cy="2962688"/>
          </a:xfrm>
        </p:spPr>
      </p:pic>
    </p:spTree>
    <p:extLst>
      <p:ext uri="{BB962C8B-B14F-4D97-AF65-F5344CB8AC3E}">
        <p14:creationId xmlns:p14="http://schemas.microsoft.com/office/powerpoint/2010/main" val="2770222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1.1.2 Taal van de genetica</a:t>
            </a:r>
            <a:endParaRPr lang="nl-BE" sz="1800" b="1" dirty="0">
              <a:solidFill>
                <a:srgbClr val="75D6DB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Allel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variant van een gen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Locus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de vaste positie waar een gen zich op een chromosoom bevindt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63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9CBAC09C-7CB6-69C6-4009-4E3D749016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44221" y="3770972"/>
            <a:ext cx="6566944" cy="2700000"/>
          </a:xfrm>
        </p:spPr>
      </p:pic>
    </p:spTree>
    <p:extLst>
      <p:ext uri="{BB962C8B-B14F-4D97-AF65-F5344CB8AC3E}">
        <p14:creationId xmlns:p14="http://schemas.microsoft.com/office/powerpoint/2010/main" val="248687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1.1.2 Taal van de genetica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Diploïd - haploïd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diploïde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cel (</a:t>
            </a: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2n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heeft voor elk gen twee allelen</a:t>
            </a:r>
          </a:p>
          <a:p>
            <a:pPr marL="457200" lvl="1" indent="0">
              <a:buNone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lichaamscellen</a:t>
            </a:r>
          </a:p>
          <a:p>
            <a:pPr marL="0" indent="0">
              <a:buNone/>
            </a:pP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haploïde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cel (</a:t>
            </a: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heeft voor elk gen slechts één allel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zaadcellen en eicellen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Heterozygoot – homozygoot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heterozygoot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de allelen voor een bepaald gen zijn verschillend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homozygoot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 </a:t>
            </a: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raszuiver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de allelen voor een bepaald gen zijn dezelfde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63 + 64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4C4F18D6-4CB5-4EE8-5458-EBF17ABC7C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014565" y="2274504"/>
            <a:ext cx="2581635" cy="1781424"/>
          </a:xfr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9FB7D3A-5E73-6145-5B18-35F45D711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855" y="4289524"/>
            <a:ext cx="291505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57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1.1.2 Taal van de genetica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Dominant - recessief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Dominant</a:t>
            </a: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 overheersend allel komt altijd tot uiting als het aanwezig is.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aangeduid met een hoofdletter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altijd op de eerste plaats noteren bij heterozygote allelenparen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Recessief</a:t>
            </a: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 ondergeschikt allel komt enkel tot uiting in homozygote toestand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aangeduid met een kleine letter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Voorbeelden: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gele erwten = G (dominant), groene erwten = g (</a:t>
            </a: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reseccief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 en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gele erwten,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groene erwten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paarse bloemen = P (dominant), witte bloemen = p (recessief)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PP en Pp: paarse bloemen, pp: witte bloemen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64</a:t>
            </a:r>
          </a:p>
        </p:txBody>
      </p:sp>
    </p:spTree>
    <p:extLst>
      <p:ext uri="{BB962C8B-B14F-4D97-AF65-F5344CB8AC3E}">
        <p14:creationId xmlns:p14="http://schemas.microsoft.com/office/powerpoint/2010/main" val="1249938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1.1.2 Taal van de genetica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Genotype - fenotype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genotype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informatie zoals ze in de genen voorkomt</a:t>
            </a:r>
          </a:p>
          <a:p>
            <a:pPr lvl="1">
              <a:buFontTx/>
              <a:buChar char="-"/>
            </a:pP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457200" lvl="1" indent="0">
              <a:buNone/>
            </a:pP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fenotype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uiterlijke verschijningsvorm van het organisme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bepaald door het genotype en de omgevingsfactoren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gele erwten of groene erwten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haarkleur</a:t>
            </a:r>
          </a:p>
          <a:p>
            <a:pPr>
              <a:buFontTx/>
              <a:buChar char="-"/>
            </a:pP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64</a:t>
            </a:r>
          </a:p>
        </p:txBody>
      </p:sp>
    </p:spTree>
    <p:extLst>
      <p:ext uri="{BB962C8B-B14F-4D97-AF65-F5344CB8AC3E}">
        <p14:creationId xmlns:p14="http://schemas.microsoft.com/office/powerpoint/2010/main" val="955116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1.1.3 Kruisingsvierkanten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Kruisingsvierkant</a:t>
            </a: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 vierkant van </a:t>
            </a: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Punnett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schematische weergaven welke mogelijke zygoten (nakomelingen)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diploïde cellen stel je met twee letters voor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haploïde cellen (gameten) stel je met één letter voor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aantonen van de splitsingswet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65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9F7E258A-8742-035B-4C95-2E728556E5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478077" y="1302592"/>
            <a:ext cx="3140321" cy="4874371"/>
          </a:xfrm>
        </p:spPr>
      </p:pic>
    </p:spTree>
    <p:extLst>
      <p:ext uri="{BB962C8B-B14F-4D97-AF65-F5344CB8AC3E}">
        <p14:creationId xmlns:p14="http://schemas.microsoft.com/office/powerpoint/2010/main" val="3710892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311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1.1.4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intermediaire overerving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Intermediaire eigenschap</a:t>
            </a:r>
            <a:r>
              <a:rPr lang="nl-BE" sz="1800" b="1" dirty="0">
                <a:solidFill>
                  <a:srgbClr val="75D6D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 mengvorm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geen van de allelen wordt dominant overgeërfd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voorbeeld: Japanse roos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P-generatie: raszuivere homozygote witte en rode camelia’s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-generatie: uitsluitend roze camelia’s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roze is een mengvorm van wit en rood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65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FF72CA8F-FE22-DF6D-4D66-804875FC5B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924330" y="2915292"/>
            <a:ext cx="1838582" cy="2172003"/>
          </a:xfrm>
        </p:spPr>
      </p:pic>
    </p:spTree>
    <p:extLst>
      <p:ext uri="{BB962C8B-B14F-4D97-AF65-F5344CB8AC3E}">
        <p14:creationId xmlns:p14="http://schemas.microsoft.com/office/powerpoint/2010/main" val="3923219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202"/>
            <a:ext cx="2660374" cy="5101397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kruisingsvierkant</a:t>
            </a: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F</a:t>
            </a:r>
            <a:r>
              <a:rPr lang="en-US" sz="2400" baseline="-250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</a:t>
            </a: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-generatie:</a:t>
            </a: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- 100% </a:t>
            </a:r>
            <a:r>
              <a:rPr lang="en-US" sz="2400" dirty="0" err="1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roze</a:t>
            </a: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(WR)</a:t>
            </a: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F</a:t>
            </a:r>
            <a:r>
              <a:rPr lang="en-US" sz="2400" baseline="-250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2</a:t>
            </a: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-generatie:</a:t>
            </a: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- 25%: wit (WW)</a:t>
            </a: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- 25%: rood (RR)</a:t>
            </a:r>
            <a:b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</a:b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- 50%: </a:t>
            </a:r>
            <a:r>
              <a:rPr lang="en-US" sz="2400" dirty="0" err="1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roze</a:t>
            </a:r>
            <a:r>
              <a:rPr lang="en-US" sz="2400" dirty="0"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(WR)</a:t>
            </a:r>
            <a:endParaRPr lang="nl-B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66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66747F75-9427-0D83-EC5F-CF078127C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574" y="558786"/>
            <a:ext cx="8264338" cy="574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41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6735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1.1.4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intermediaire overerving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Andere voorbeelden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vachtkleur bij paarden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homozygote hengst met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rood-bruine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vacht met homozygote merrie met wit of licht 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créme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gekleurde vacht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veulens met goudkleurige vacht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haarstijl bij mensen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homozygote man met krulhaar met homozygote vrouw met steil haar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-generatie: kinderen met golvend haar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66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876343CE-10F7-861C-7ACE-A5B6AF1238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11748" y="2769591"/>
            <a:ext cx="2251164" cy="1796265"/>
          </a:xfrm>
        </p:spPr>
      </p:pic>
    </p:spTree>
    <p:extLst>
      <p:ext uri="{BB962C8B-B14F-4D97-AF65-F5344CB8AC3E}">
        <p14:creationId xmlns:p14="http://schemas.microsoft.com/office/powerpoint/2010/main" val="918992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1.1.4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intermediaire overerving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66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BD74945-D8E9-4A5A-476A-4AF832EDF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00" y="3033474"/>
            <a:ext cx="8280000" cy="194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5044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1.1.5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codominante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allelen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Codominantie 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beide allelen komen naaste elkaar tot uiting, beide even dominant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voorbeeld: rododendrons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P-generatie: homozygote witte en rode kroonbladeren 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-generatie: tweekleurige rode en witte kroonbladeren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67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BE3D0E2F-5DA4-B99C-F041-25BC9F9CD0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42695" y="1825625"/>
            <a:ext cx="4420217" cy="4344006"/>
          </a:xfrm>
        </p:spPr>
      </p:pic>
    </p:spTree>
    <p:extLst>
      <p:ext uri="{BB962C8B-B14F-4D97-AF65-F5344CB8AC3E}">
        <p14:creationId xmlns:p14="http://schemas.microsoft.com/office/powerpoint/2010/main" val="1158020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9640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1.1.5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codominante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allelen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Andere voorbeelden: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vachtkleur bij Holstein-koeien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homozygote koe met zwarte vacht met homozygote stier met witte vacht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kalveren met zwart-wit gevlekte vacht</a:t>
            </a:r>
          </a:p>
          <a:p>
            <a:pPr>
              <a:buFontTx/>
              <a:buChar char="-"/>
            </a:pP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verderdek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bij kippen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homozygote hen met witte veren homozygote haan met zwarte veren 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kuikens met zowel zwarte als witte veren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67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13EBF1F0-8C6B-F845-551F-B8FAF75747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89099" y="1973459"/>
            <a:ext cx="2736000" cy="1830355"/>
          </a:xfr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C69AA6A-2962-01D7-EEA8-7B7F31D5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713" y="3935636"/>
            <a:ext cx="2700000" cy="22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48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1.1.5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codominante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allelen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66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6889BA1-569A-C627-8CC0-27D47993B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00" y="3062099"/>
            <a:ext cx="8280000" cy="188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29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5044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1.1.6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multipele allelen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Multipele allelen 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van een bepaald gen bestaan met dan twee mogelijke allelen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voorbeeld: bloedgroepen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allelen: A, B en o</a:t>
            </a:r>
          </a:p>
          <a:p>
            <a:pPr lvl="1">
              <a:buFontTx/>
              <a:buChar char="-"/>
            </a:pP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codominante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bloedgroepen A en B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recessieve bloedgroep 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68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49C75913-0130-8356-21F0-A06C95B3A6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28379" y="2562818"/>
            <a:ext cx="4534533" cy="2876951"/>
          </a:xfrm>
        </p:spPr>
      </p:pic>
    </p:spTree>
    <p:extLst>
      <p:ext uri="{BB962C8B-B14F-4D97-AF65-F5344CB8AC3E}">
        <p14:creationId xmlns:p14="http://schemas.microsoft.com/office/powerpoint/2010/main" val="1825339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5504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1.1.6 </a:t>
            </a:r>
            <a:r>
              <a:rPr lang="nl-BE" sz="2400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 met multipele allelen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Multipele allelen 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kruisingsvierkant 1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heterozygote man bloedgroep A met heterozygote vrouw bloedgroep B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kinderen met bloedgroep O: 25% kans</a:t>
            </a:r>
          </a:p>
          <a:p>
            <a:pPr>
              <a:buFontTx/>
              <a:buChar char="-"/>
            </a:pP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voorbeelde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2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homozygote man bloedgroep A met homozygote vrouw bloedgroep B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kinderen met bloedgroep AB: 100% kans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68</a:t>
            </a:r>
          </a:p>
        </p:txBody>
      </p:sp>
      <p:pic>
        <p:nvPicPr>
          <p:cNvPr id="13" name="Tijdelijke aanduiding voor inhoud 12">
            <a:extLst>
              <a:ext uri="{FF2B5EF4-FFF2-40B4-BE49-F238E27FC236}">
                <a16:creationId xmlns:a16="http://schemas.microsoft.com/office/drawing/2014/main" id="{A02BA88E-40EF-D8E8-5FE8-AE5BC323B2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81277" y="2500183"/>
            <a:ext cx="2581635" cy="1857634"/>
          </a:xfrm>
        </p:spPr>
      </p:pic>
    </p:spTree>
    <p:extLst>
      <p:ext uri="{BB962C8B-B14F-4D97-AF65-F5344CB8AC3E}">
        <p14:creationId xmlns:p14="http://schemas.microsoft.com/office/powerpoint/2010/main" val="3991648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5504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1.1.7 Stamboomonderzoek</a:t>
            </a:r>
          </a:p>
          <a:p>
            <a:pPr marL="0" indent="0">
              <a:buNone/>
            </a:pP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Stamboom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schematische voorstelling van verschillende generaties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met onderlinge relaties</a:t>
            </a:r>
          </a:p>
          <a:p>
            <a:pPr>
              <a:buFontTx/>
              <a:buChar char="-"/>
            </a:pP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68 + 69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CFCBB269-34AF-DC59-E650-A1B9028B67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196" y="4001293"/>
            <a:ext cx="7920000" cy="2479770"/>
          </a:xfrm>
        </p:spPr>
      </p:pic>
    </p:spTree>
    <p:extLst>
      <p:ext uri="{BB962C8B-B14F-4D97-AF65-F5344CB8AC3E}">
        <p14:creationId xmlns:p14="http://schemas.microsoft.com/office/powerpoint/2010/main" val="2719904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5504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1.1.7 Stamboomonderzoek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Voorbeeld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drie generaties: I, II en III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koppel I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 I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drie dochters: II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II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 II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één zoon: II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zoon II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is samen met vrouw II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</a:t>
            </a: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één dochters: III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</a:p>
          <a:p>
            <a:pPr>
              <a:buFontTx/>
              <a:buChar char="-"/>
            </a:pP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zoek een koppel met hetzelfde kenmerk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losse oorlel is dominant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vaste oorlel is recessief</a:t>
            </a:r>
          </a:p>
          <a:p>
            <a:pPr>
              <a:buFontTx/>
              <a:buChar char="-"/>
            </a:pP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69</a:t>
            </a:r>
          </a:p>
        </p:txBody>
      </p:sp>
      <p:pic>
        <p:nvPicPr>
          <p:cNvPr id="7" name="Tijdelijke aanduiding voor inhoud 19">
            <a:extLst>
              <a:ext uri="{FF2B5EF4-FFF2-40B4-BE49-F238E27FC236}">
                <a16:creationId xmlns:a16="http://schemas.microsoft.com/office/drawing/2014/main" id="{F49E845F-7612-CBB0-4142-F653A701F9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0126" y="2501908"/>
            <a:ext cx="5181600" cy="299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27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75504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1.1.7 Stamboomonderzoek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 basis van fenotypes kan je </a:t>
            </a:r>
            <a:r>
              <a:rPr lang="nl-BE" sz="18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genotypes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afleiden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losse oorlel: L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vaste oorlel: </a:t>
            </a:r>
            <a:r>
              <a:rPr lang="nl-BE" sz="1800" b="0" i="1" u="none" strike="noStrike" baseline="0" dirty="0">
                <a:latin typeface="NotoSans-Italic"/>
              </a:rPr>
              <a:t>ℓ</a:t>
            </a:r>
            <a:endParaRPr lang="nl-BE" sz="1400" dirty="0">
              <a:latin typeface="Lucida Handwriting" panose="03010101010101010101" pitchFamily="66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70</a:t>
            </a:r>
          </a:p>
        </p:txBody>
      </p:sp>
      <p:pic>
        <p:nvPicPr>
          <p:cNvPr id="8" name="Tijdelijke aanduiding voor inhoud 10">
            <a:extLst>
              <a:ext uri="{FF2B5EF4-FFF2-40B4-BE49-F238E27FC236}">
                <a16:creationId xmlns:a16="http://schemas.microsoft.com/office/drawing/2014/main" id="{3B259803-BA39-EFF4-6331-468FB853C4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94946" y="2768486"/>
            <a:ext cx="5454593" cy="2595515"/>
          </a:xfrm>
        </p:spPr>
      </p:pic>
      <p:pic>
        <p:nvPicPr>
          <p:cNvPr id="9" name="Tijdelijke aanduiding voor inhoud 5">
            <a:extLst>
              <a:ext uri="{FF2B5EF4-FFF2-40B4-BE49-F238E27FC236}">
                <a16:creationId xmlns:a16="http://schemas.microsoft.com/office/drawing/2014/main" id="{942F0A4C-6E6D-5E26-71DA-B958DC7E2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144" y="3645627"/>
            <a:ext cx="4758856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40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 </a:t>
            </a:r>
            <a:r>
              <a:rPr lang="nl-BE" b="1" dirty="0" err="1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Monohybride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1.1.7 Stamboomonderzoek</a:t>
            </a:r>
          </a:p>
          <a:p>
            <a:pPr marL="0" indent="0">
              <a:buNone/>
            </a:pPr>
            <a:r>
              <a:rPr lang="nl-BE" sz="18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Neonatale screening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prik in de hiel of de hand op de derde dag na de bevalling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onderzoek naar bepaalde zeldzame ziekten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Fenylketonurie (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pku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Spinale musculaire atrofie (SMA)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Mucoviscidose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vroege behandeling, grotere overlevingskans</a:t>
            </a:r>
          </a:p>
          <a:p>
            <a:pPr>
              <a:buFontTx/>
              <a:buChar char="-"/>
            </a:pPr>
            <a:endParaRPr lang="nl-BE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0EB8EF7A-5AA5-6107-C624-15F9A97C7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9823" y="2720141"/>
            <a:ext cx="5181600" cy="3322845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criteria zeldzame ziekten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ernst van de ziekte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voorkomen van de ziekte: voldoende voorkomen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behandelbaarheid van de ziekte: goede en betaalbare behandeling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beschikbaarheid van de screening: snel en relatief goedkoop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test moet voldoende gevoelig zijn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beschikbaarheid van een goed vervolgonderzoek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jaarlijks ongeveer 40 baby’s met zeldzame ziekten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25-tal voorkomt de vroege opsporing een zware handicap of overlijden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71</a:t>
            </a:r>
          </a:p>
        </p:txBody>
      </p:sp>
    </p:spTree>
    <p:extLst>
      <p:ext uri="{BB962C8B-B14F-4D97-AF65-F5344CB8AC3E}">
        <p14:creationId xmlns:p14="http://schemas.microsoft.com/office/powerpoint/2010/main" val="2034800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1.2 Di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hybride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1.2.1 Experimenten van Mendel </a:t>
            </a:r>
          </a:p>
          <a:p>
            <a:pPr marL="0" indent="0">
              <a:buNone/>
            </a:pPr>
            <a:r>
              <a:rPr lang="nl-BE" sz="1800" b="1" dirty="0" err="1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dihybride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nl-BE" sz="1800" b="1" dirty="0">
                <a:solidFill>
                  <a:srgbClr val="00B0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kruisingen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reeks kruisingen waarbij telkens twee kernmerken (bv. zaadkleur en zaadvorm) werden onderzocht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P: homozygote erwtenplanten: één gele en ronde zaden en één met groene en hoekige zaden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</a:t>
            </a:r>
            <a:r>
              <a:rPr lang="nl-BE" sz="14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allemaal erwtenplanten met gele en ronde zaden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dominant: geel (G) en rond (R)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recessief: groen (g) en hoekig (r)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7211A49E-47BC-261A-3355-2DCC2C7F80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32856" y="1591260"/>
            <a:ext cx="3630056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71</a:t>
            </a:r>
          </a:p>
        </p:txBody>
      </p:sp>
    </p:spTree>
    <p:extLst>
      <p:ext uri="{BB962C8B-B14F-4D97-AF65-F5344CB8AC3E}">
        <p14:creationId xmlns:p14="http://schemas.microsoft.com/office/powerpoint/2010/main" val="2277856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0137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1.2 Di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hybride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1.2.1 Experimenten van Mendel </a:t>
            </a:r>
          </a:p>
          <a:p>
            <a:pPr marL="0" indent="0">
              <a:buNone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zelfbestuiving van de F</a:t>
            </a:r>
            <a:r>
              <a:rPr lang="nl-BE" sz="1800" baseline="-25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-generatie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9/16: geel + rond (G.R.)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3/16: groen + rond (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ggR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3/16: geel + hoekig (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G.rr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1/16: groen + hoekig (</a:t>
            </a:r>
            <a:r>
              <a:rPr lang="nl-BE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ggrr</a:t>
            </a: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lvl="1">
              <a:buFontTx/>
              <a:buChar char="-"/>
            </a:pPr>
            <a:endParaRPr lang="nl-BE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kleuren verhouden zich 3/1</a:t>
            </a:r>
          </a:p>
          <a:p>
            <a:pPr lvl="1">
              <a:buFontTx/>
              <a:buChar char="-"/>
            </a:pPr>
            <a:r>
              <a:rPr lang="nl-BE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zaadvorm verhouden zich 3/1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72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1CB691D7-3740-F9FA-54EF-37432181FE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30209" y="1274648"/>
            <a:ext cx="3632703" cy="4902315"/>
          </a:xfrm>
        </p:spPr>
      </p:pic>
    </p:spTree>
    <p:extLst>
      <p:ext uri="{BB962C8B-B14F-4D97-AF65-F5344CB8AC3E}">
        <p14:creationId xmlns:p14="http://schemas.microsoft.com/office/powerpoint/2010/main" val="2341991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C0AD-605C-6756-BAB1-82359907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Mono-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FB4A-807B-2501-0A4E-9E0DD344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1.2 Di</a:t>
            </a:r>
            <a:r>
              <a:rPr lang="nl-BE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hybride kruising</a:t>
            </a:r>
          </a:p>
          <a:p>
            <a:pPr marL="0" indent="0">
              <a:buNone/>
            </a:pPr>
            <a:r>
              <a:rPr lang="nl-BE" sz="2400" b="1" dirty="0">
                <a:solidFill>
                  <a:srgbClr val="FF596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1.2.2 Derde wet van Mendel</a:t>
            </a:r>
          </a:p>
          <a:p>
            <a:pPr marL="0" indent="0">
              <a:buNone/>
            </a:pPr>
            <a:endParaRPr lang="nl-BE" sz="1800" dirty="0">
              <a:solidFill>
                <a:srgbClr val="FF596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nl-BE" sz="1800" dirty="0">
              <a:solidFill>
                <a:srgbClr val="FF596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nl-BE" sz="1800" dirty="0">
              <a:solidFill>
                <a:srgbClr val="FF596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nl-BE" sz="1800" dirty="0">
              <a:solidFill>
                <a:srgbClr val="FF596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nl-BE" sz="1800" dirty="0">
              <a:solidFill>
                <a:srgbClr val="FF596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uniformiteitswet geldt ook</a:t>
            </a:r>
          </a:p>
          <a:p>
            <a:pPr>
              <a:buFontTx/>
              <a:buChar char="-"/>
            </a:pPr>
            <a:r>
              <a:rPr lang="nl-BE" sz="1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splitsingswet geldt 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EC7C8-A538-7EE7-7DE4-1B2B96072DA9}"/>
              </a:ext>
            </a:extLst>
          </p:cNvPr>
          <p:cNvSpPr txBox="1"/>
          <p:nvPr/>
        </p:nvSpPr>
        <p:spPr>
          <a:xfrm>
            <a:off x="5668392" y="635635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600" b="1" dirty="0">
                <a:solidFill>
                  <a:srgbClr val="735F97"/>
                </a:solidFill>
              </a:rPr>
              <a:t>Leerboek WACO 5 Biologie p. 72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3EF306A-7181-8612-64DF-A78A3423F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00" y="3067114"/>
            <a:ext cx="8280000" cy="135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63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32585-9C13-0E9C-5AFC-08C4C7E23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789042"/>
            <a:ext cx="7644994" cy="4079946"/>
          </a:xfrm>
        </p:spPr>
        <p:txBody>
          <a:bodyPr/>
          <a:lstStyle/>
          <a:p>
            <a:pPr>
              <a:lnSpc>
                <a:spcPts val="1400"/>
              </a:lnSpc>
              <a:spcAft>
                <a:spcPts val="600"/>
              </a:spcAft>
            </a:pPr>
            <a:endParaRPr lang="en-US" sz="2400" dirty="0"/>
          </a:p>
          <a:p>
            <a:endParaRPr lang="nl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A1BE24-DAC0-3D9D-AC30-3E597742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Mono-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F43A800C-4459-B8A9-172C-73DEC8B6D737}"/>
              </a:ext>
            </a:extLst>
          </p:cNvPr>
          <p:cNvGrpSpPr/>
          <p:nvPr/>
        </p:nvGrpSpPr>
        <p:grpSpPr>
          <a:xfrm>
            <a:off x="836613" y="2421287"/>
            <a:ext cx="10515600" cy="1997722"/>
            <a:chOff x="838200" y="3530777"/>
            <a:chExt cx="10515600" cy="199772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884292-BEC6-BC8E-CCFD-67D682FA99F5}"/>
                </a:ext>
              </a:extLst>
            </p:cNvPr>
            <p:cNvSpPr txBox="1"/>
            <p:nvPr/>
          </p:nvSpPr>
          <p:spPr>
            <a:xfrm>
              <a:off x="838200" y="3530777"/>
              <a:ext cx="10515600" cy="646331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JUIST/FOUT?</a:t>
              </a:r>
              <a:endParaRPr lang="en-US" sz="1800" b="1" kern="1200" cap="none" baseline="0" dirty="0">
                <a:solidFill>
                  <a:srgbClr val="6AC1D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  <a:p>
              <a:pPr algn="l" rtl="0" fontAlgn="base"/>
              <a:r>
                <a:rPr lang="nl-BE" sz="1800" b="1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a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 Het gen voor bloedgroepen is een voorbeeld van codominantie bij mensen.</a:t>
              </a:r>
              <a:r>
                <a:rPr lang="nl-BE" sz="1800" b="0" i="0" dirty="0">
                  <a:solidFill>
                    <a:srgbClr val="00B0F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  </a:t>
              </a:r>
              <a:endParaRPr lang="nl-B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051D8-DFEA-70F3-C889-735AB7D8EC67}"/>
                </a:ext>
              </a:extLst>
            </p:cNvPr>
            <p:cNvSpPr txBox="1"/>
            <p:nvPr/>
          </p:nvSpPr>
          <p:spPr>
            <a:xfrm>
              <a:off x="838200" y="4605169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Antwoord:</a:t>
              </a:r>
            </a:p>
            <a:p>
              <a:endParaRPr lang="nl-BE" dirty="0"/>
            </a:p>
            <a:p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1094313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32585-9C13-0E9C-5AFC-08C4C7E23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789042"/>
            <a:ext cx="7644994" cy="4079946"/>
          </a:xfrm>
        </p:spPr>
        <p:txBody>
          <a:bodyPr/>
          <a:lstStyle/>
          <a:p>
            <a:pPr>
              <a:lnSpc>
                <a:spcPts val="1400"/>
              </a:lnSpc>
              <a:spcAft>
                <a:spcPts val="600"/>
              </a:spcAft>
            </a:pPr>
            <a:endParaRPr lang="en-US" sz="2400" dirty="0"/>
          </a:p>
          <a:p>
            <a:endParaRPr lang="nl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A1BE24-DAC0-3D9D-AC30-3E597742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Mono-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F43A800C-4459-B8A9-172C-73DEC8B6D737}"/>
              </a:ext>
            </a:extLst>
          </p:cNvPr>
          <p:cNvGrpSpPr/>
          <p:nvPr/>
        </p:nvGrpSpPr>
        <p:grpSpPr>
          <a:xfrm>
            <a:off x="836613" y="2421287"/>
            <a:ext cx="10515600" cy="1997722"/>
            <a:chOff x="838200" y="3530777"/>
            <a:chExt cx="10515600" cy="199772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884292-BEC6-BC8E-CCFD-67D682FA99F5}"/>
                </a:ext>
              </a:extLst>
            </p:cNvPr>
            <p:cNvSpPr txBox="1"/>
            <p:nvPr/>
          </p:nvSpPr>
          <p:spPr>
            <a:xfrm>
              <a:off x="838200" y="3530777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JUIST/FOUT?</a:t>
              </a:r>
              <a:endParaRPr lang="en-US" sz="1800" b="1" kern="1200" cap="none" baseline="0" dirty="0">
                <a:solidFill>
                  <a:srgbClr val="6AC1D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  <a:p>
              <a:pPr algn="l" rtl="0" fontAlgn="base"/>
              <a:r>
                <a:rPr lang="nl-BE" sz="1800" b="1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a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 Het gen voor bloedgroepen is een voorbeeld van codominantie bij mensen.</a:t>
              </a:r>
              <a:r>
                <a:rPr lang="nl-BE" sz="1800" b="0" i="0" dirty="0">
                  <a:solidFill>
                    <a:srgbClr val="00B0F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 </a:t>
              </a:r>
            </a:p>
            <a:p>
              <a:pPr algn="l" rtl="0" fontAlgn="base"/>
              <a:r>
                <a:rPr lang="nl-BE" sz="1800" b="0" i="0" dirty="0">
                  <a:solidFill>
                    <a:srgbClr val="00B0F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  </a:t>
              </a:r>
              <a:endParaRPr lang="nl-B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051D8-DFEA-70F3-C889-735AB7D8EC67}"/>
                </a:ext>
              </a:extLst>
            </p:cNvPr>
            <p:cNvSpPr txBox="1"/>
            <p:nvPr/>
          </p:nvSpPr>
          <p:spPr>
            <a:xfrm>
              <a:off x="838200" y="4605169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Antwoord:</a:t>
              </a:r>
            </a:p>
            <a:p>
              <a:pPr algn="l"/>
              <a:r>
                <a:rPr lang="nl-BE" dirty="0">
                  <a:highlight>
                    <a:srgbClr val="FFFFFF"/>
                  </a:highlight>
                  <a:latin typeface="Arial" panose="020B0604020202020204" pitchFamily="34" charset="0"/>
                </a:rPr>
                <a:t>J</a:t>
              </a:r>
              <a:r>
                <a:rPr lang="nl-BE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uist</a:t>
              </a:r>
            </a:p>
            <a:p>
              <a:pPr algn="l"/>
              <a:endParaRPr lang="nl-BE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993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32585-9C13-0E9C-5AFC-08C4C7E23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789042"/>
            <a:ext cx="7644994" cy="4079946"/>
          </a:xfrm>
        </p:spPr>
        <p:txBody>
          <a:bodyPr/>
          <a:lstStyle/>
          <a:p>
            <a:pPr>
              <a:lnSpc>
                <a:spcPts val="1400"/>
              </a:lnSpc>
              <a:spcAft>
                <a:spcPts val="600"/>
              </a:spcAft>
            </a:pPr>
            <a:endParaRPr lang="en-US" sz="2400" dirty="0"/>
          </a:p>
          <a:p>
            <a:endParaRPr lang="nl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A1BE24-DAC0-3D9D-AC30-3E597742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Mono-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F43A800C-4459-B8A9-172C-73DEC8B6D737}"/>
              </a:ext>
            </a:extLst>
          </p:cNvPr>
          <p:cNvGrpSpPr/>
          <p:nvPr/>
        </p:nvGrpSpPr>
        <p:grpSpPr>
          <a:xfrm>
            <a:off x="836613" y="2421287"/>
            <a:ext cx="10515600" cy="1997722"/>
            <a:chOff x="838200" y="3530777"/>
            <a:chExt cx="10515600" cy="199772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884292-BEC6-BC8E-CCFD-67D682FA99F5}"/>
                </a:ext>
              </a:extLst>
            </p:cNvPr>
            <p:cNvSpPr txBox="1"/>
            <p:nvPr/>
          </p:nvSpPr>
          <p:spPr>
            <a:xfrm>
              <a:off x="838200" y="3530777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JUIST/FOUT?</a:t>
              </a:r>
              <a:endParaRPr lang="en-US" sz="1800" b="1" kern="1200" cap="none" baseline="0" dirty="0">
                <a:solidFill>
                  <a:srgbClr val="6AC1D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  <a:p>
              <a:pPr algn="l" rtl="0" fontAlgn="base"/>
              <a:r>
                <a:rPr lang="nl-BE" sz="1800" b="1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b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 Bij kruising van F</a:t>
              </a:r>
              <a:r>
                <a:rPr lang="nl-BE" sz="1800" b="0" i="0" baseline="-2500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1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-hybriden krijg je drie keer zoveel nakomelingen met het recessieve</a:t>
              </a:r>
            </a:p>
            <a:p>
              <a:pPr algn="l" rtl="0" fontAlgn="base"/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kenmerk als nakomelingen met het dominante kenmerk.</a:t>
              </a:r>
              <a:r>
                <a:rPr lang="nl-BE" sz="1800" b="0" i="0" dirty="0">
                  <a:solidFill>
                    <a:srgbClr val="00B0F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 </a:t>
              </a:r>
              <a:endParaRPr lang="nl-B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051D8-DFEA-70F3-C889-735AB7D8EC67}"/>
                </a:ext>
              </a:extLst>
            </p:cNvPr>
            <p:cNvSpPr txBox="1"/>
            <p:nvPr/>
          </p:nvSpPr>
          <p:spPr>
            <a:xfrm>
              <a:off x="838200" y="4605169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Antwoord:</a:t>
              </a:r>
            </a:p>
            <a:p>
              <a:endParaRPr lang="nl-BE" dirty="0"/>
            </a:p>
            <a:p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4186907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32585-9C13-0E9C-5AFC-08C4C7E23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789042"/>
            <a:ext cx="7644994" cy="4079946"/>
          </a:xfrm>
        </p:spPr>
        <p:txBody>
          <a:bodyPr/>
          <a:lstStyle/>
          <a:p>
            <a:pPr>
              <a:lnSpc>
                <a:spcPts val="1400"/>
              </a:lnSpc>
              <a:spcAft>
                <a:spcPts val="600"/>
              </a:spcAft>
            </a:pPr>
            <a:endParaRPr lang="en-US" sz="2400" dirty="0"/>
          </a:p>
          <a:p>
            <a:endParaRPr lang="nl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A1BE24-DAC0-3D9D-AC30-3E597742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Mono-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F43A800C-4459-B8A9-172C-73DEC8B6D737}"/>
              </a:ext>
            </a:extLst>
          </p:cNvPr>
          <p:cNvGrpSpPr/>
          <p:nvPr/>
        </p:nvGrpSpPr>
        <p:grpSpPr>
          <a:xfrm>
            <a:off x="836613" y="2421287"/>
            <a:ext cx="10515600" cy="1997722"/>
            <a:chOff x="838200" y="3530777"/>
            <a:chExt cx="10515600" cy="199772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884292-BEC6-BC8E-CCFD-67D682FA99F5}"/>
                </a:ext>
              </a:extLst>
            </p:cNvPr>
            <p:cNvSpPr txBox="1"/>
            <p:nvPr/>
          </p:nvSpPr>
          <p:spPr>
            <a:xfrm>
              <a:off x="838200" y="3530777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JUIST/FOUT?</a:t>
              </a:r>
              <a:endParaRPr lang="en-US" sz="1800" b="1" kern="1200" cap="none" baseline="0" dirty="0">
                <a:solidFill>
                  <a:srgbClr val="6AC1D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  <a:p>
              <a:pPr algn="l" rtl="0" fontAlgn="base"/>
              <a:r>
                <a:rPr lang="nl-BE" sz="1800" b="1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b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 Bij kruising van F</a:t>
              </a:r>
              <a:r>
                <a:rPr lang="nl-BE" sz="1800" b="0" i="0" baseline="-2500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1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-hybriden krijg je drie keer zoveel nakomelingen met het recessieve</a:t>
              </a:r>
            </a:p>
            <a:p>
              <a:pPr algn="l" rtl="0" fontAlgn="base"/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kenmerk als nakomelingen met het dominante kenmerk.</a:t>
              </a:r>
              <a:r>
                <a:rPr lang="nl-BE" sz="1800" b="0" i="0" dirty="0">
                  <a:solidFill>
                    <a:srgbClr val="00B0F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 </a:t>
              </a:r>
              <a:endParaRPr lang="nl-B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051D8-DFEA-70F3-C889-735AB7D8EC67}"/>
                </a:ext>
              </a:extLst>
            </p:cNvPr>
            <p:cNvSpPr txBox="1"/>
            <p:nvPr/>
          </p:nvSpPr>
          <p:spPr>
            <a:xfrm>
              <a:off x="838200" y="4605169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Antwoord:</a:t>
              </a:r>
            </a:p>
            <a:p>
              <a:pPr algn="l"/>
              <a:r>
                <a:rPr lang="nl-BE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Fout: b</a:t>
              </a:r>
              <a:r>
                <a:rPr lang="nl-BE" b="0" i="0" dirty="0">
                  <a:solidFill>
                    <a:srgbClr val="202122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ij kruising van F</a:t>
              </a:r>
              <a:r>
                <a:rPr lang="nl-BE" b="0" i="0" baseline="-25000" dirty="0">
                  <a:solidFill>
                    <a:srgbClr val="202122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1</a:t>
              </a:r>
              <a:r>
                <a:rPr lang="nl-BE" b="0" i="0" dirty="0">
                  <a:solidFill>
                    <a:srgbClr val="202122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-hybriden, krijg je drie keer zoveel nakomelingen met het dominante kenmerk dan nakomelingen met het recessieve kenmerk.</a:t>
              </a:r>
              <a:endParaRPr lang="nl-BE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092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32585-9C13-0E9C-5AFC-08C4C7E23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789042"/>
            <a:ext cx="7644994" cy="4079946"/>
          </a:xfrm>
        </p:spPr>
        <p:txBody>
          <a:bodyPr/>
          <a:lstStyle/>
          <a:p>
            <a:pPr>
              <a:lnSpc>
                <a:spcPts val="1400"/>
              </a:lnSpc>
              <a:spcAft>
                <a:spcPts val="600"/>
              </a:spcAft>
            </a:pPr>
            <a:endParaRPr lang="en-US" sz="2400" dirty="0"/>
          </a:p>
          <a:p>
            <a:endParaRPr lang="nl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A1BE24-DAC0-3D9D-AC30-3E597742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Mono-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F43A800C-4459-B8A9-172C-73DEC8B6D737}"/>
              </a:ext>
            </a:extLst>
          </p:cNvPr>
          <p:cNvGrpSpPr/>
          <p:nvPr/>
        </p:nvGrpSpPr>
        <p:grpSpPr>
          <a:xfrm>
            <a:off x="836613" y="2421287"/>
            <a:ext cx="10515600" cy="1997722"/>
            <a:chOff x="838200" y="3530777"/>
            <a:chExt cx="10515600" cy="199772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884292-BEC6-BC8E-CCFD-67D682FA99F5}"/>
                </a:ext>
              </a:extLst>
            </p:cNvPr>
            <p:cNvSpPr txBox="1"/>
            <p:nvPr/>
          </p:nvSpPr>
          <p:spPr>
            <a:xfrm>
              <a:off x="838200" y="3530777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JUIST/FOUT?</a:t>
              </a:r>
              <a:endParaRPr lang="en-US" sz="1800" b="1" kern="1200" cap="none" baseline="0" dirty="0">
                <a:solidFill>
                  <a:srgbClr val="6AC1D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  <a:p>
              <a:pPr algn="l" rtl="0" fontAlgn="base"/>
              <a:r>
                <a:rPr lang="nl-BE" sz="1800" b="1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c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 Recessieve allelen komen enkel tot uiting in heterozygote vorm.</a:t>
              </a:r>
            </a:p>
            <a:p>
              <a:pPr algn="l" rtl="0" fontAlgn="base"/>
              <a:endParaRPr lang="nl-B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051D8-DFEA-70F3-C889-735AB7D8EC67}"/>
                </a:ext>
              </a:extLst>
            </p:cNvPr>
            <p:cNvSpPr txBox="1"/>
            <p:nvPr/>
          </p:nvSpPr>
          <p:spPr>
            <a:xfrm>
              <a:off x="838200" y="4605169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Antwoord:</a:t>
              </a:r>
            </a:p>
            <a:p>
              <a:pPr algn="l"/>
              <a:r>
                <a:rPr lang="nl-BE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 </a:t>
              </a:r>
            </a:p>
            <a:p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281570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32585-9C13-0E9C-5AFC-08C4C7E23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789042"/>
            <a:ext cx="7644994" cy="4079946"/>
          </a:xfrm>
        </p:spPr>
        <p:txBody>
          <a:bodyPr/>
          <a:lstStyle/>
          <a:p>
            <a:pPr>
              <a:lnSpc>
                <a:spcPts val="1400"/>
              </a:lnSpc>
              <a:spcAft>
                <a:spcPts val="600"/>
              </a:spcAft>
            </a:pPr>
            <a:endParaRPr lang="en-US" sz="2400" dirty="0"/>
          </a:p>
          <a:p>
            <a:endParaRPr lang="nl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A1BE24-DAC0-3D9D-AC30-3E597742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1 Mono-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en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dihybride</a:t>
            </a:r>
            <a:r>
              <a:rPr lang="en-US" sz="6000" dirty="0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 </a:t>
            </a:r>
            <a:r>
              <a:rPr lang="en-US" sz="6000" dirty="0" err="1">
                <a:solidFill>
                  <a:srgbClr val="735F97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kruisingen</a:t>
            </a:r>
            <a:endParaRPr lang="nl-BE" dirty="0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F43A800C-4459-B8A9-172C-73DEC8B6D737}"/>
              </a:ext>
            </a:extLst>
          </p:cNvPr>
          <p:cNvGrpSpPr/>
          <p:nvPr/>
        </p:nvGrpSpPr>
        <p:grpSpPr>
          <a:xfrm>
            <a:off x="836613" y="2421287"/>
            <a:ext cx="10515600" cy="1997722"/>
            <a:chOff x="838200" y="3530777"/>
            <a:chExt cx="10515600" cy="199772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884292-BEC6-BC8E-CCFD-67D682FA99F5}"/>
                </a:ext>
              </a:extLst>
            </p:cNvPr>
            <p:cNvSpPr txBox="1"/>
            <p:nvPr/>
          </p:nvSpPr>
          <p:spPr>
            <a:xfrm>
              <a:off x="838200" y="3530777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JUIST/FOUT?</a:t>
              </a:r>
              <a:endParaRPr lang="en-US" sz="1800" b="1" kern="1200" cap="none" baseline="0" dirty="0">
                <a:solidFill>
                  <a:srgbClr val="6AC1D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  <a:p>
              <a:pPr algn="l" rtl="0" fontAlgn="base"/>
              <a:r>
                <a:rPr lang="nl-BE" sz="1800" b="1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c</a:t>
              </a:r>
              <a:r>
                <a:rPr lang="nl-BE" sz="1800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 Recessieve allelen komen enkel tot uiting in heterozygote vorm.</a:t>
              </a:r>
            </a:p>
            <a:p>
              <a:pPr algn="l" rtl="0" fontAlgn="base"/>
              <a:endParaRPr lang="nl-B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2051D8-DFEA-70F3-C889-735AB7D8EC67}"/>
                </a:ext>
              </a:extLst>
            </p:cNvPr>
            <p:cNvSpPr txBox="1"/>
            <p:nvPr/>
          </p:nvSpPr>
          <p:spPr>
            <a:xfrm>
              <a:off x="838200" y="4605169"/>
              <a:ext cx="10515600" cy="923330"/>
            </a:xfrm>
            <a:prstGeom prst="rect">
              <a:avLst/>
            </a:prstGeom>
            <a:noFill/>
            <a:ln w="12700">
              <a:solidFill>
                <a:srgbClr val="6AC1DC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b="1" dirty="0">
                  <a:solidFill>
                    <a:srgbClr val="6AC1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Antwoord:</a:t>
              </a:r>
            </a:p>
            <a:p>
              <a:pPr algn="l"/>
              <a:r>
                <a:rPr lang="nl-BE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Fout: </a:t>
              </a:r>
              <a:r>
                <a:rPr lang="nl-BE" dirty="0">
                  <a:solidFill>
                    <a:srgbClr val="333333"/>
                  </a:solidFill>
                  <a:highlight>
                    <a:srgbClr val="FFFFFF"/>
                  </a:highlight>
                  <a:latin typeface="Segoe UI" panose="020B0502040204020203" pitchFamily="34" charset="0"/>
                </a:rPr>
                <a:t>r</a:t>
              </a:r>
              <a:r>
                <a:rPr lang="nl-BE" b="0" i="0" dirty="0">
                  <a:solidFill>
                    <a:srgbClr val="333333"/>
                  </a:solidFill>
                  <a:effectLst/>
                  <a:highlight>
                    <a:srgbClr val="FFFFFF"/>
                  </a:highlight>
                  <a:latin typeface="Segoe UI" panose="020B0502040204020203" pitchFamily="34" charset="0"/>
                </a:rPr>
                <a:t>ecessieve allelen komen enkel tot uiting in homozygote vorm. </a:t>
              </a:r>
            </a:p>
            <a:p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191222348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CO template ppt  -  Alleen-lezen" id="{89A7D459-1B1E-4EAB-AE1D-303FC2A50D3E}" vid="{F2146D3B-7337-49C7-A829-9345EF6A449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E41B17A44BA340B75A50A101FC2C2E" ma:contentTypeVersion="21" ma:contentTypeDescription="Een nieuw document maken." ma:contentTypeScope="" ma:versionID="dfe67ca8f60db826e1b2c99817eaca67">
  <xsd:schema xmlns:xsd="http://www.w3.org/2001/XMLSchema" xmlns:xs="http://www.w3.org/2001/XMLSchema" xmlns:p="http://schemas.microsoft.com/office/2006/metadata/properties" xmlns:ns1="http://schemas.microsoft.com/sharepoint/v3" xmlns:ns2="a39454ab-4223-4e85-8d71-55733c3a9f97" xmlns:ns3="9df7fb12-ae38-4a4f-a07b-dd5e8738547d" targetNamespace="http://schemas.microsoft.com/office/2006/metadata/properties" ma:root="true" ma:fieldsID="48bca3dec334f321139100a2dccbc2da" ns1:_="" ns2:_="" ns3:_="">
    <xsd:import namespace="http://schemas.microsoft.com/sharepoint/v3"/>
    <xsd:import namespace="a39454ab-4223-4e85-8d71-55733c3a9f97"/>
    <xsd:import namespace="9df7fb12-ae38-4a4f-a07b-dd5e873854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Linknaarbr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9454ab-4223-4e85-8d71-55733c3a9f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a2ea5b17-e537-4e5b-898d-fcb314baf7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inknaarbron" ma:index="26" nillable="true" ma:displayName="Link naar bron" ma:format="Hyperlink" ma:internalName="Linknaarbron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7fb12-ae38-4a4f-a07b-dd5e8738547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2670706-152d-48e0-9c01-486f4d6a8723}" ma:internalName="TaxCatchAll" ma:showField="CatchAllData" ma:web="9df7fb12-ae38-4a4f-a07b-dd5e873854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9df7fb12-ae38-4a4f-a07b-dd5e8738547d" xsi:nil="true"/>
    <Linknaarbron xmlns="a39454ab-4223-4e85-8d71-55733c3a9f97">
      <Url xsi:nil="true"/>
      <Description xsi:nil="true"/>
    </Linknaarbron>
    <lcf76f155ced4ddcb4097134ff3c332f xmlns="a39454ab-4223-4e85-8d71-55733c3a9f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AE4C542-EA6C-453E-B674-A699DFE35A6A}"/>
</file>

<file path=customXml/itemProps2.xml><?xml version="1.0" encoding="utf-8"?>
<ds:datastoreItem xmlns:ds="http://schemas.openxmlformats.org/officeDocument/2006/customXml" ds:itemID="{52ED2BA2-7BCB-4E5F-AACD-D7E7847A22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1F444A-51CE-4513-99C9-6408B08116C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9df7fb12-ae38-4a4f-a07b-dd5e8738547d"/>
    <ds:schemaRef ds:uri="a39454ab-4223-4e85-8d71-55733c3a9f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PowerPoints_WACO 5</Template>
  <TotalTime>734</TotalTime>
  <Words>1860</Words>
  <Application>Microsoft Office PowerPoint</Application>
  <PresentationFormat>Breedbeeld</PresentationFormat>
  <Paragraphs>323</Paragraphs>
  <Slides>41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41</vt:i4>
      </vt:variant>
    </vt:vector>
  </HeadingPairs>
  <TitlesOfParts>
    <vt:vector size="51" baseType="lpstr">
      <vt:lpstr>Aptos</vt:lpstr>
      <vt:lpstr>Arial</vt:lpstr>
      <vt:lpstr>Calibri</vt:lpstr>
      <vt:lpstr>Calibri Light</vt:lpstr>
      <vt:lpstr>Lucida Handwriting</vt:lpstr>
      <vt:lpstr>Noto Sans</vt:lpstr>
      <vt:lpstr>Noto Sans Black</vt:lpstr>
      <vt:lpstr>NotoSans-Italic</vt:lpstr>
      <vt:lpstr>Segoe UI</vt:lpstr>
      <vt:lpstr>Kantoorthema</vt:lpstr>
      <vt:lpstr>PowerPoint-presentatie</vt:lpstr>
      <vt:lpstr>HOOFDSTUK 1 MONO- EN DIHYBRIDE KRUISINGEN</vt:lpstr>
      <vt:lpstr>PowerPoint-presentatie</vt:lpstr>
      <vt:lpstr>1 Mono- en dihybride kruisingen</vt:lpstr>
      <vt:lpstr>1 Mono- en dihybride kruisingen</vt:lpstr>
      <vt:lpstr>PowerPoint-presentatie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kruisingsvierkant  F1-generatie: - 100% roze (WR) F2-generatie: - 25%: wit (WW) - 25%: rood (RR) - 50%: roze (WR)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  <vt:lpstr>1 Mono- en dihybride kruisingen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 THEMATITEL</dc:title>
  <dc:creator>Van Daele Femke</dc:creator>
  <cp:lastModifiedBy>Veerle Damm</cp:lastModifiedBy>
  <cp:revision>9</cp:revision>
  <dcterms:created xsi:type="dcterms:W3CDTF">2023-03-23T10:54:15Z</dcterms:created>
  <dcterms:modified xsi:type="dcterms:W3CDTF">2024-06-19T13:23:01Z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0x01010049E41B17A44BA340B75A50A101FC2C2E</vt:lpwstr>
  </property>
</Properties>
</file>